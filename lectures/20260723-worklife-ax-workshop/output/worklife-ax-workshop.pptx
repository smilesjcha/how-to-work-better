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환영 인사. 오늘은 도구 사용법이 아니라 '일하는 방식'을 다룬다는 프레임을 첫 화면부터 강조.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1부는 관점, 2부는 손. 실습은 무료 계정으로 2개만, 나머지는 시연이라 부담 없다고 안내.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설문에서 '커리어 성장과 나만의 AI 활용 계획'을 5명이 선택. 오늘의 최종 산출물이 이 답이 된다고 예고.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직함 두 줄(무신사 Agentic AI PM / 겸임교수)을 명확히 읽어주기. 상세 이력은 다음 두 장에서.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AutoML→CV→LLM→Agent 흐름 = AI 기술사 그 자체. '계속 배워서 옮겨탄 사람'으로 신뢰 형성.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90초]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설문 관심사(프롬프트·에이전트·커리어)와 강의 이력을 연결해 오늘 내용의 근거로 제시.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운영기관의 우려(도구 홍보처럼 보일 위험)에 대한 답이기도 한 슬라이드. 왼쪽을 먼저 읽고 오른쪽으로.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참여자 응답을 그대로 반영했음을 보여주며 신뢰 형성. 초심자도 낙오하지 않게 설계했다고 안심시키기.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90초]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1부 시작. 이론 파트지만 전부 '내 업무'와 연결해 듣도록 유도.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시간표는 빠르게. 실습 2개와 최종 산출물만 강조.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도구 이름이 아니라 '전환'이라는 구조 변화로 설명. 참여자 8명 중 7명이 이미 생성형 AI 사용 경험자.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설문의 직무 분포 그대로 4개 카드. '내 얘기'라고 느끼게 하는 슬라이드.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왼쪽이 줄어들수록 오른쪽의 비중과 가치가 커진다 — 오늘 전체를 관통하는 구도.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4분]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설문의 '커리어 성장' 수요와 연결. 4가지 모두 오늘 실습에서 한 번씩 경험하게 됨을 예고.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4분]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참여자들이 이미 쓰는 도구(설문: ChatGPT 8, Gemini 5, Claude 4, Perplexity 3)를 지도 위에 배치해주기.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4분]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도구 지도 다음의 실전 기준. '앞으로 새 도구가 나와도 스스로 판단할 수 있다'는 자신감 부여.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설문에서 Claude 처음 듣는 분 2명 — '새 도구 하나 더 배우기'가 아니라 '같은 원리, 다른 창'이라고 안심.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KEDI 덱의 '개떡같이 말하면 개떡같이 알아듣습니다' 슬라이드의 순화 버전. 웃음 포인트로 활용 가능.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①~⑤는 품질, ⑥은 무료 계정 현실 대응. 실습 프롬프트에 이 6가지가 전부 들어있음을 예고.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4분]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KEDI 덱의 C.O.R.E 프레임워크 벤치마크. 네 글자만 기억해도 오늘 강의 절반은 가져가는 것.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4분]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KEDI 덱 '쿠션어 쓰지 않기' 벤치마크. 실제로 많은 분들이 존댓말+쿠션어로 쓰고 있음 — 웃음 포인트.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KEDI 덱 '긍정문으로 명령하기' 벤치마크. 업무 예시(5문장 이내)로 번역해주기.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KEDI 덱 '줄바꿈과 구분자 활용' 벤치마크. 구분자 라인(하이라이트)을 짚어주기.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역할 부여는 참여자들이 가장 빨리 체감하는 기법. '사수 없는 신입에게 AI 사수 만들어주기'로 소개.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기법 4개를 뒤집어 정리한 복습 슬라이드. ③이 다음 슬라이드(검증 루프)로 자연 연결.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실제 실습 ①에서 쓸 프롬프트의 미리보기. 형식 지정 부분(하이라이트)을 짚어주기.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실습 ②에서 이 루프를 직접 돌려본다고 예고. 마지막 단계만 파란색 = 사람의 자리.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실습 폴더 2개(01·02)와 outputs만 강조. 04는 시연용이라 따라 하지 않아도 됨을 명확히.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하나씩 체크하며 채팅창에 'OK' 받기. 안 되는 분은 'help' — 휴식 시간에 개별 지원.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5분 (점검 포함)]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설문 보안 인지 평균 2.0/5 — 이 슬라이드는 천천히. 마지막 카드(치환)가 실무 해법.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4분]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실습 키트 05_safety_guidelines에 같은 체크리스트가 들어있음을 안내 — 교육 후에도 사용.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메시지 수는 수요·프롬프트 길이에 따라 달라짐. '제한 도달=실패'가 아니라 설계된 폴백이 있다고 안심.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휴식 복귀 확인 후 시작. 여기부터는 손으로.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화면 공유로 3단계를 먼저 시연한 뒤 참여자 실습 시작. 15분 실습 + 결과 공유.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35분 (실습 포함)]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하이라이트(환각 방지 장치)가 설문 요청 '지어내는 답 고치는 법'의 첫 번째 답.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실습 안내용]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설문 요청 'Notion 만들기' 해소 구간. 시간 여유 시 참여자 결과 1-2개 화면 공유.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실습 안내용]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'AI가 모르는 것을 아는 척하지 않게 만든 결과'가 핵심. 확인 필요 표시를 함께 찾아보기.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시나리오를 소리 내어 읽어주면 몰입도 상승. 실습 15분 + 수정 요청 실습 5분 + 공유.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30분 (실습 포함)]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'과장하지 않기'가 의외로 효과 큰 문구임을 언급.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실습 안내용]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마지막 박스(사람)만 파란색 — S24와 같은 구도의 반복 학습.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실습 안내용]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'제목에 결론'이 실무 포인트. 참여자 결과와 비교하며 톤 차이 이야기하기.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시연 파트 시작. '자랑'이 아니라 '방향'을 보여주는 시간이라고 프레이밍.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설문 2위 관심사(반복 업무 자동화·에이전트)에 대한 답. 지금부터 3~6단계를 눈으로 확인.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시연 실패 시 백업 캡처 사용. 04_paid_demo_examples/excel_demo_sample.csv 동일 데이터.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5분]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4분]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'복붙의 소멸'이라는 한 마디로 요약. 발전 6단계의 4단계 실증.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발전 6단계의 3단계 실증. '개인 노하우의 자산화'가 커리어 관점 메시지.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4분]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이 강의 자체가 사례라는 반전 포인트. 설문 관심 1위(에이전트) 수요의 정점.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5분]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4분]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10분 작성 + 지원자 2명 공유. 공유 강요는 하지 않기.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15분 (작성 포함)]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이번엔 왼쪽이 accent — '줄이는 것'이 실행 대상이므로. 오른쪽은 지키는 것.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①②는 프롬프트 장치, ③은 사람의 습관. 오늘 실습에서 이미 ①②를 사용했음을 상기.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커리어 메시지로 마무리 준비. '도구 숙련도'가 아닌 역량 중심.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행동 장벽 제거 슬라이드. '캘린더에 지금 등록'은 실제로 하게끔 10초 기다려주기.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세 문장을 천천히. 마지막 문장이 오늘의 액션 커밋먼트.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2분]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Q&amp;A 시작. 질문이 없으면 설문 자유응답(환각 교정·엑셀·노션)을 소재로 먼저 이야기.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8분 (Q&amp;A)]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Q&amp;A 진행. 교육 후에도 시나리오 실행 중 막히면 연락 가능함을 안내.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10분 (Q&amp;A 포함)]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23C7C"/>
                </a:solidFill>
                <a:latin typeface="Apple SD Gothic Neo"/>
              </a:rPr>
              <a:t>2026 청년 여성 밸런스 워크숍 (WORK-LIFE.zip)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960120"/>
            <a:ext cx="1463040" cy="0"/>
          </a:xfrm>
          <a:prstGeom prst="line">
            <a:avLst/>
          </a:prstGeom>
          <a:ln w="2540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1874519"/>
            <a:ext cx="12191695" cy="2286000"/>
          </a:xfrm>
          <a:prstGeom prst="rect">
            <a:avLst/>
          </a:prstGeom>
          <a:solidFill>
            <a:srgbClr val="0D2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39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Apple SD Gothic Neo"/>
              </a:rPr>
              <a:t>AI 시대의 업무 경쟁력과 생산성 향상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55847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AF1FB"/>
                </a:solidFill>
                <a:latin typeface="Apple SD Gothic Neo"/>
              </a:rPr>
              <a:t>AX 시대의 일하는 방식 · 문서 생산성 · 커리어 성장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333333"/>
                </a:solidFill>
                <a:latin typeface="Apple SD Gothic Neo"/>
              </a:rPr>
              <a:t>2026. 07. 23. (목) 13:00 – 17:00 · 온라인(Zoom)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5806440"/>
            <a:ext cx="1090879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차성재 · 무신사 Agentic AI PM · 서울시립대 / 아주대 AI 부문 겸임교수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737360"/>
            <a:ext cx="5318607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700" b="1" i="0">
                <a:solidFill>
                  <a:srgbClr val="FFFFFF"/>
                </a:solidFill>
                <a:latin typeface="Apple SD Gothic Neo"/>
              </a:rPr>
              <a:t>1부 · AX 시대의 업무 변화와 AI 활용 관점 (13:00–14:50)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513572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1.  오리엔테이션 — 오늘의 핵심 질문</a:t>
            </a:r>
          </a:p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2.  AX 시대, 직장인의 일은 어떻게 바뀌는가</a:t>
            </a:r>
          </a:p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3.  업무 목적별 AI 도구 활용 지도</a:t>
            </a:r>
          </a:p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4.  AI를 잘 쓰는 사람의 업무 방식</a:t>
            </a:r>
          </a:p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5.  실습 환경 점검과 안전한 AI 활용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4447" y="1737360"/>
            <a:ext cx="5318607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700" b="1" i="0">
                <a:solidFill>
                  <a:srgbClr val="FFFFFF"/>
                </a:solidFill>
                <a:latin typeface="Apple SD Gothic Neo"/>
              </a:rPr>
              <a:t>2부 · 실습과 확장, 개인 적용 (15:00–17:00)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5887" y="2514600"/>
            <a:ext cx="513572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1.  실습 ① 회의록·자료 정리 자동화</a:t>
            </a:r>
          </a:p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2.  실습 ② 보고서·이메일 초안 작성</a:t>
            </a:r>
          </a:p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3.  유료·확장 기능 시연 — 자동화의 다음 단계</a:t>
            </a:r>
          </a:p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4.  나의 AI 업무 적용 시나리오 만들기</a:t>
            </a:r>
          </a:p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5.  안전한 AI 활용과 커리어 경쟁력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02 / 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오늘의 핵심 질문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237744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77437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 i="0">
                <a:solidFill>
                  <a:srgbClr val="111111"/>
                </a:solidFill>
                <a:latin typeface="Apple SD Gothic Neo"/>
              </a:rPr>
              <a:t>“AX 시대에 나는 어떻게 일하고, 어떻게 성장할 것인가?”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29200"/>
            <a:ext cx="107743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333333"/>
                </a:solidFill>
                <a:latin typeface="Apple SD Gothic Neo"/>
              </a:rPr>
              <a:t>4시간 뒤, 이 질문에 대한 나만의 답 — '내 업무 적용 시나리오 1개'를 가지고 돌아갑니다.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03 / 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강사 소개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rofile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4206240" cy="2366356"/>
          </a:xfrm>
          <a:prstGeom prst="rect">
            <a:avLst/>
          </a:prstGeom>
        </p:spPr>
      </p:pic>
      <p:pic>
        <p:nvPicPr>
          <p:cNvPr id="5" name="Picture 4" descr="book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89120"/>
            <a:ext cx="1440629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0280" y="452628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『딥러닝의 정석 (2판)』 옮긴이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O'Reilly 〈Fundamentals of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Deep Learning 2nd Edition〉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91640"/>
            <a:ext cx="6385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11111"/>
                </a:solidFill>
                <a:latin typeface="Apple SD Gothic Neo"/>
              </a:rPr>
              <a:t>차성재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2240280"/>
            <a:ext cx="6385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무신사 Agentic AI PM</a:t>
            </a:r>
          </a:p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서울시립대 / 아주대 AI 부문 겸임교수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3108960"/>
            <a:ext cx="6385255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AI 제품을 기획하고, 만들고, 운영해온 실무형 AI PM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무신사 (이커머스) — Agentic AI 서비스 기획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크레버스 (교육) — 생성형 AI 영어 교육 서비스 기획·개발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AINEX (의료 AI) — 내시경 AI 진단, 책임연구원/연구소장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AIZEN GLOBAL (금융 AI) — AutoML 솔루션, AI/ML 팀 리더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『딥러닝의 정석(2판)』(한빛미디어) 옮긴이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04 /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커리어 방향성 — AI 기술의 흐름을 따라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0312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AutoML — 금융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7291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8659" y="210312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Computer Vision(DL) — 의료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1293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28679" y="210312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LLM — 교육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295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68699" y="210312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Agent — 이커머스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금융 — AutoML 솔루션으로 머신러닝의 자동화를 경험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의료 — 딥러닝 Computer Vision으로 진단 보조 AI를 개발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교육 — LLM 기반 생성형 AI 서비스를 기획·운영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이커머스 — 지금은 AI가 스스로 일하는 Agent 서비스를 설계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기술이 바뀔 때마다 일하는 방식을 다시 배웠습니다 — 오늘 여러분과 나눌 주제이기도 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05 /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강의 이력 — 이런 주제로 강의해 왔습니다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Prompt Engineering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한국교육개발원 — ChatGPT 기반 연구 최적화 특강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프롬프트 설계·C.O.R.E 프레임워크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0147" y="16916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AI Native · Agent 워크숍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서울AI재단 — Claude 기반 AI Native 업무 워크숍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구름 AI Campus — Agentic AI 강의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490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Claude · Codex 실무 활용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패스트캠퍼스 — AI 시대 PM의 새로운 무기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AI 코딩 도구(Claude Code·Codex) 기반 업무 자동화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37490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대학원 정규 강의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서울시립대 스마트시티대학원 — 인공지능 (2021~)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아주대 AI대학원 — MLOps · LLMOps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오늘 강의는 이 경험들을 '입문자용 4시간'으로 압축한 버전입니다.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06 /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이 교육이 다루는 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828800"/>
            <a:ext cx="541004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다루지 않는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5410047" cy="393192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78608"/>
            <a:ext cx="5007711" cy="3529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AI 도구 기능 암기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코딩·설치·복잡한 계정 연동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유료 결제 요구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특정 도구 찬양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828800"/>
            <a:ext cx="5410047" cy="54864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ple SD Gothic Neo"/>
              </a:rPr>
              <a:t>다루는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377440"/>
            <a:ext cx="5410047" cy="393192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4175" y="2578608"/>
            <a:ext cx="5007711" cy="3529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AX 시대의 일하는 방식과 성장 전략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무료 계정으로 바로 쓰는 실습 2개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안전하게 쓰는 기준 (보안·검증)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내 업무에 적용하는 시나리오 1개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07 /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사전 설문으로 본 오늘의 참여자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다양한 직무, 8명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마케팅·기획·영업·공공·경영지원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1~3년 차 중심 + 재진입·취업 준비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0147" y="169164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배우고 싶은 것 Top 3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① 좋은 프롬프트 작성법 (6표)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② 반복 업무 자동화·AI 에이전트 (6표)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③ 보고서 초안·문서 자동화·커리어 (각 5표)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수준 차이가 큰 교실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거의 매일 사용 4명 ↔ 처음 접하는 분 2명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→ 실습은 천천히, 확장은 시연으로 넓게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402336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설문에서 받은 요청, 오늘 다룹니다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AI가 지어내는 답 교정하기 (2-5)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프롬프트 구체화 (1-3) · Notion 활용 (2-1)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08 /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3172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FB0DC"/>
                </a:solidFill>
                <a:latin typeface="Apple SD Gothic Neo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Apple SD Gothic Neo"/>
              </a:rPr>
              <a:t>AX 시대의 업무 변화와 AI 활용 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690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EAF1FB"/>
                </a:solidFill>
                <a:latin typeface="Apple SD Gothic Neo"/>
              </a:rPr>
              <a:t>13:00 – 14:50 · 반복 업무가 줄어든 자리에 무엇이 남는가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EAF1FB"/>
                </a:solidFill>
                <a:latin typeface="Apple SD Gothic Neo"/>
              </a:rPr>
              <a:t>09 /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오늘의 시간표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194560"/>
                <a:gridCol w="5212080"/>
                <a:gridCol w="1920240"/>
              </a:tblGrid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세션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핵심 내용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산출물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13:00–13:10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오리엔테이션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핵심 질문과 진행 방식 안내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13:10–13:35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AX 시대, 직장인의 일은 어떻게 바뀌는가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13:35–14:00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업무 목적별 AI 도구 활용 지도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14:00–14:25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AI를 잘 쓰는 사람의 업무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14:25–14:50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실습 환경 점검 · 안전한 활용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Claude 접속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14:50–15:00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휴식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15:00–15:35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2-1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실습 ① 회의록·자료 정리 자동화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회의록·액션아이템 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15:35–16:05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2-2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실습 ② 보고서·이메일 초안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보고서·이메일 초안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16:05–16:10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휴식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16:10–16:35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유료·확장 기능 시연 (Excel·PPT·Word·MCP·HWP)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16:35–16:50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2-4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나의 AI 업무 적용 시나리오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시나리오 1개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6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16:50–17:00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2-5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검증·보안·커리어 경쟁력 정리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실습 낙오 걱정 없음 — 모든 실습에 결과 예시 파일이 준비되어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10 /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3172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FB0DC"/>
                </a:solidFill>
                <a:latin typeface="Apple SD Gothic Neo"/>
              </a:rPr>
              <a:t>SESSION 1-1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Apple SD Gothic Neo"/>
              </a:rPr>
              <a:t>AX 시대, 직장인의 일은 어떻게 바뀌는가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690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EAF1FB"/>
                </a:solidFill>
                <a:latin typeface="Apple SD Gothic Neo"/>
              </a:rPr>
              <a:t>13:10 – 13:35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EAF1FB"/>
                </a:solidFill>
                <a:latin typeface="Apple SD Gothic Neo"/>
              </a:rPr>
              <a:t>11 / 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생성형 AI 확산과 업무환경의 변화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23C7C"/>
                </a:solidFill>
                <a:latin typeface="Apple SD Gothic Neo"/>
              </a:rPr>
              <a:t>AX(AI Transformation) — AI가 업무 프로세스 안으로 들어오는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문서 요약, 초안 작성, 형식 변환 같은 작업의 상당 부분을 AI가 보조하기 시작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신입·주니어에게 기대되는 산출물의 속도와 완성도 기준이 함께 상승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도구는 계속 바뀝니다 — ChatGPT, Claude, Gemini, 그리고 다음 도구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바뀌지 않는 것 — 문제를 정의하고, 결과를 검증하고, 책임지는 사람의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12 / 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우리 주변의 AX 장면들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마케팅·콘텐츠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캠페인 카피 초안, SNS 콘텐츠 아이디어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인터뷰·리서치 자료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0147" y="16916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기획·프로젝트 운영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회의록 정리와 액션아이템 추출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기획서 목차·초안, 일정표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490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영업·고객지원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고객 응대 메일 초안, 톤 조정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문의 유형 분류와 FAQ 정리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37490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경영지원·인사·재무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표 데이터 요약, 증감 정리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공지문·규정 문서 초안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오늘 참여자 여러분의 직무에서 이미 일어나고 있는 변화입니다.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13 / 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줄어드는 일, 남는 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828800"/>
            <a:ext cx="541004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AI가 빠르게 줄이는 반복 업무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5410047" cy="35661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78608"/>
            <a:ext cx="5007711" cy="316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회의록 정리, 긴 자료 요약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보고서·이메일 초안 작성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형식 변환 (표, 목차, 템플릿 채우기)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번역, 문장 다듬기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828800"/>
            <a:ext cx="5410047" cy="54864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ple SD Gothic Neo"/>
              </a:rPr>
              <a:t>사람이 계속 책임지는 업무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377440"/>
            <a:ext cx="5410047" cy="356616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4175" y="2578608"/>
            <a:ext cx="5007711" cy="316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판단과 의사결정 — 무엇을 할지 결정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이해관계자 소통과 관계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문제 정의 — 무엇이 진짜 문제인지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민감정보 관리와 최종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메시지: AI는 일을 없애기보다, 반복 업무를 줄이고 판단·소통·문제해결의 중요성을 높입니다.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14 / 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초기 재직자에게 요구되는 역량의 변화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문제 정의력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일을 시작하기 전에 목적·산출물·기준을 언어로 정리하는 힘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AI에게 일을 시킬 때도 똑같이 필요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0147" y="169164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AI 협업 리터러시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무엇을 맡기고 무엇을 직접 할지 구분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초안은 AI, 판단과 책임은 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검증하는 습관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숫자·날짜·인용을 원문과 대조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'그럴듯한 오답'을 걸러내는 사람이 신뢰를 얻음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402336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소통과 자기주도성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결과를 상대와 맥락에 맞게 전달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새 도구를 스스로 시험해보는 태도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15 /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1-1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237744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77437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 i="0">
                <a:solidFill>
                  <a:srgbClr val="111111"/>
                </a:solidFill>
                <a:latin typeface="Apple SD Gothic Neo"/>
              </a:rPr>
              <a:t>AI는 일을 없애기보다, 반복 업무를 줄이고 판단·소통·문제해결의 중요성을 높입니다.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16 / 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3172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FB0DC"/>
                </a:solidFill>
                <a:latin typeface="Apple SD Gothic Neo"/>
              </a:rPr>
              <a:t>SESSION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Apple SD Gothic Neo"/>
              </a:rPr>
              <a:t>업무 목적별 AI 도구 활용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690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EAF1FB"/>
                </a:solidFill>
                <a:latin typeface="Apple SD Gothic Neo"/>
              </a:rPr>
              <a:t>13:35 – 14:00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EAF1FB"/>
                </a:solidFill>
                <a:latin typeface="Apple SD Gothic Neo"/>
              </a:rPr>
              <a:t>17 /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업무 목적별 AI 도구 지도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자료조사 · 검색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Perplexity, Gemini, ChatGPT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출처 확인이 쉬운 도구를 우선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0147" y="16916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문서 작성 · 요약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Claude, ChatGPT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긴 문서, 구조화된 산출물에 강점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490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협업 · 정리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Notion, Google Docs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AI 결과물을 옮겨 담는 협업 공간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3749040"/>
            <a:ext cx="543290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표 · 데이터 산출물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Claude, Excel, Google Sheets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표 요약과 데이터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오늘 실습은 일관성을 위해 Claude 하나로 진행합니다 — 원리는 어떤 도구에도 그대로 적용됩니다.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18 /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도구를 고르는 4가지 기준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23C7C"/>
                </a:solidFill>
                <a:latin typeface="Apple SD Gothic Neo"/>
              </a:rPr>
              <a:t>새 도구가 나올 때마다 이 4가지만 확인하면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① 목적 적합성 — 내 업무 산출물(문서·표·검색)에 강한 도구인가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② 보안 — 회사 데이터를 넣어도 되는 환경인가 (기업용/개인용 구분)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③ 무료 범위 — 무료로 어디까지 되는가, 결제 없이 시작할 수 있는가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④ 협업 흐름 — 결과를 Notion·문서·메일로 옮기기 쉬운가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19 /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왜 오늘은 Claude로 실습하나요?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23C7C"/>
                </a:solidFill>
                <a:latin typeface="Apple SD Gothic Neo"/>
              </a:rPr>
              <a:t>특정 도구 추천이 아니라, 실습 일관성을 위한 대표 도구 선택입니다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긴 문서 요약과 문서형 산출물(보고서·표·Markdown)에 강점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무료 계정으로 오늘의 실습 전부 수행 가능 — 결제 불필요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유료·연동 기능(Excel·PPT·Word·MCP·Skills)은 강사 시연으로만 소개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오늘 배우는 프롬프트 원리는 ChatGPT·Gemini에도 동일하게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20 / 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1-2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237744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77437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 i="0">
                <a:solidFill>
                  <a:srgbClr val="111111"/>
                </a:solidFill>
                <a:latin typeface="Apple SD Gothic Neo"/>
              </a:rPr>
              <a:t>중요한 것은 특정 도구가 아니라, 업무 목적에 맞는 AI 활용 방식을 선택하는 것입니다.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21 / 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3172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FB0DC"/>
                </a:solidFill>
                <a:latin typeface="Apple SD Gothic Neo"/>
              </a:rPr>
              <a:t>SESSION 1-3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Apple SD Gothic Neo"/>
              </a:rPr>
              <a:t>AI를 잘 쓰는 사람의 업무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690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EAF1FB"/>
                </a:solidFill>
                <a:latin typeface="Apple SD Gothic Neo"/>
              </a:rPr>
              <a:t>14:00 – 14:25 · 설문 1위 요청 — 좋은 프롬프트 작성법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EAF1FB"/>
                </a:solidFill>
                <a:latin typeface="Apple SD Gothic Neo"/>
              </a:rPr>
              <a:t>22 / 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질문을 제대로 했나요?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828800"/>
            <a:ext cx="541004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나쁜 프롬프트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5410047" cy="35661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78608"/>
            <a:ext cx="5007711" cy="316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“회의록 정리해줘”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목적도, 형식도, 기준도 없음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결과는 복불복 — 다시 쓰는 시간이 더 걸림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AI 탓을 하게 됨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828800"/>
            <a:ext cx="5410047" cy="54864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ple SD Gothic Neo"/>
              </a:rPr>
              <a:t>좋은 프롬프트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377440"/>
            <a:ext cx="5410047" cy="356616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4175" y="2578608"/>
            <a:ext cx="5007711" cy="316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“사내 공유용 회의록으로 정리해줘”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형식 지정 — 결정사항·액션아이템 표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기준 제시 — 불확실하면 '확인 필요' 표시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한 번에 쓸 만한 초안이 나옴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같은 AI, 같은 질문거리 — 결과의 차이는 '요청을 정의하는 방식'에서 나옵니다.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23 / 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프롬프트에 넣어야 할 6가지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354573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① 역할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“너는 마케팅팀 사수야”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관점과 눈높이 지정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2978" y="1691640"/>
            <a:ext cx="354573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② 목적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“팀장 보고용으로”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결과물의 용도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7316" y="1691640"/>
            <a:ext cx="354573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③ 맥락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상황·배경·제약 제공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많을수록 정확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354573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④ 산출물 형식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“Markdown 표로”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구조·분량·톤 지정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4023360"/>
            <a:ext cx="354573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⑤ 검토 기준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“불확실하면 '확인 필요'”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환각 방지 장치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7316" y="4023360"/>
            <a:ext cx="3545738" cy="21031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⑥ 한 번에 요청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짧게 여러 번 ✕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무료 사용량 절약 + 품질 향상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24 / 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기억하기 쉬운 틀 — C.O.R.E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0312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Context 목적·상황·배경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7291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8659" y="210312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Output 형식·분량·톤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1293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28679" y="210312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Reference 참조 자료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295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68699" y="210312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Example 원하는 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Context — 왜, 어떤 상황에서 필요한지 배경을 먼저 줍니다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Output — 결과물의 형태(표·목차·글자수·톤)를 지정합니다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Reference — 참고할 자료·데이터를 함께 붙여넣습니다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Example — “이런 느낌으로” 예시 하나가 열 마디 설명보다 낫습니다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25 / 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기법 ① 쿠션어를 쓰지 않습니다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828800"/>
            <a:ext cx="541004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5410047" cy="35661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78608"/>
            <a:ext cx="5007711" cy="316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“죄송하지만 프롬프트 엔지니어링이 무엇인지 설명해주실 수 있을까요?”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→ 공손하지만 요청의 핵심이 흐려집니다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828800"/>
            <a:ext cx="5410047" cy="54864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ple SD Gothic Neo"/>
              </a:rPr>
              <a:t>After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377440"/>
            <a:ext cx="5410047" cy="356616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4175" y="2578608"/>
            <a:ext cx="5007711" cy="316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“프롬프트 엔지니어링에 대해 설명해줘”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→ 짧고 명확한 명령형이 더 정확한 답을 만듭니다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AI에게 예의는 필요 없습니다 — 명확함이 곧 배려입니다.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26 / 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기법 ② 부정문 대신 긍정문으로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828800"/>
            <a:ext cx="541004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5410047" cy="35661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78608"/>
            <a:ext cx="5007711" cy="316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“얼굴에 그림자를 너무 많이 넣지 마”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→ '하지 마'는 기준이 모호합니다 (얼마나가 '너무 많이'인가?)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828800"/>
            <a:ext cx="5410047" cy="54864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ple SD Gothic Neo"/>
              </a:rPr>
              <a:t>After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377440"/>
            <a:ext cx="5410047" cy="356616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4175" y="2578608"/>
            <a:ext cx="5007711" cy="316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“얼굴 오른쪽에만 그림자를 살짝 넣어줘”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→ 원하는 상태를 직접 말하면 AI가 목표를 정확히 압니다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보고서에도 동일 — “길게 쓰지 마” 대신 “5문장 이내로 써줘”.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27 / 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기법 ③ 구분자로 구조를 만듭니다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지시·자료·예시가 한 덩어리면 AI도 헷갈립니다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### 구분자로 블록을 나누면 실수도, 누락도 줄어듭니다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긴 자료를 붙여넣을 때 특히 효과적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실습 프롬프트도 이 구조로 되어 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737360"/>
            <a:ext cx="560801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###지시###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아래 회의 메모를 회의록으로 정리해줘.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###조건###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- 액션아이템은 Markdown 표로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- 불확실하면 '확인 필요' 표시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###자료###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(회의 메모 붙여넣기)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28 / 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기법 ④ 역할을 부여합니다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역할을 주면 답변의 관점과 눈높이가 정해집니다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“3년 차 사수처럼” — 설명의 난이도가 달라짐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“꼼꼼한 검토자로서” — 지적·보완 중심으로 바뀜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대상 독자까지 지정하면 톤이 완성됩니다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737360"/>
            <a:ext cx="560801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너는 마케팅팀 3년 차 사수야.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신입이 쓴 아래 보고서 초안을 읽고,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1. 잘한 점 2가지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2. 고칠 점 3가지 (이유 포함)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3. 수정 예시 문장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을 알려줘. 말투는 다정하게.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29 / 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자주 하는 실수 3가지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3545738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① 맥락 없이 짧은 질문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“보고서 써줘” 한 줄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→ 배경·목적·형식을 함께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2978" y="1691640"/>
            <a:ext cx="3545738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② 잘게 쪼개 여러 번 요청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질문 → 답 → 또 질문 반복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→ 한 번에 완성 요청 (사용량 절약)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7316" y="1691640"/>
            <a:ext cx="3545738" cy="38862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③ 결과를 검증 없이 사용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숫자·이름을 그대로 복사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→ 원문 대조는 사람의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설문 프롬프트 수준 — '짧은 지시만 입력' 3명, '무엇을 입력할지 모름' 1명: 오늘 다 해결됩니다.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30 / 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Markdown으로 받으면 바로 씁니다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Markdown 표·체크리스트로 받으면 Notion·문서·메일에 그대로 붙여넣기 가능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“Notion에 붙여넣기 좋은 형식으로” 한 줄이면 충분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보고서는 목차 구조(배경→현황→이슈→대응안)를 지정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설문 요청사항이었던 'Notion 만들기'가 바로 이 방법입니다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737360"/>
            <a:ext cx="560801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아래 회의 메모를 정리해줘.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출력 형식: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1. 회의 요약 3줄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2. 결정사항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3. 액션아이템 Markdown 표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   (할 일 | 담당자 | 기한 | 우선순위)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4. 추가 확인이 필요한 질문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불확실한 내용은 '확인 필요'로 표시.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Notion에 붙여넣기 좋게 만들어줘.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31 / 68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결과물을 그대로 쓰지 않습니다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0312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초안 요청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7291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8659" y="210312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결과 검토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1293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28679" y="210312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수정 요청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295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68699" y="210312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사람의 최종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첫 결과는 '초안'입니다 — 검토 없이 제출하지 않기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수정은 새 대화가 아니라 같은 대화에서 이어서 요청 (맥락 유지)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숫자·이름·날짜는 반드시 원문과 대조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최종 판단과 책임은 언제나 사람의 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32 / 68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1-3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237744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77437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 i="0">
                <a:solidFill>
                  <a:srgbClr val="111111"/>
                </a:solidFill>
                <a:latin typeface="Apple SD Gothic Neo"/>
              </a:rPr>
              <a:t>AI를 잘 쓰는 사람은 질문을 잘하는 사람이 아니라, 업무 목적과 산출물 기준을 명확히 정의하는 사람입니다.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33 / 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3172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FB0DC"/>
                </a:solidFill>
                <a:latin typeface="Apple SD Gothic Neo"/>
              </a:rPr>
              <a:t>SESSION 1-4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Apple SD Gothic Neo"/>
              </a:rPr>
              <a:t>실습 환경 점검과 안전한 AI 활용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690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EAF1FB"/>
                </a:solidFill>
                <a:latin typeface="Apple SD Gothic Neo"/>
              </a:rPr>
              <a:t>14:25 – 14:50 · 실습 전 필수 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EAF1FB"/>
                </a:solidFill>
                <a:latin typeface="Apple SD Gothic Neo"/>
              </a:rPr>
              <a:t>34 / 68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자료 한눈에 보기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830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지금 함께 확인합니다 —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① claude.ai 로그인 상태 확인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② 배포받은 ZIP 압축 해제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③ 00_guide/workshop_guide.md 열기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④ outputs 폴더 위치 확인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따라오기 어려우면 채팅창에 'help'를 남겨주세요.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783080"/>
            <a:ext cx="597377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ai-work-competency-workshop/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├─ 00_guide/            시작 가이드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├─ 01_free_practice_    실습① 회의록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 meeting_summary/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├─ 02_free_practice_    실습② 보고서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 report_email/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├─ 03_notion_markdown_  Notion 템플릿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 templates/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├─ 04_paid_demo_        시연용(참고)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 examples/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├─ 05_safety_           보안 기준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 guidelines/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└─ outputs/             내 결과물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35 / 68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지금 함께 점검합니다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4가지가 확인되면 실습 준비 완료입니다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claude.ai 접속 — 로그인 후 대화창이 보인다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실습 ZIP — 압축 해제 후 폴더 7개가 보인다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00_guide/workshop_guide.md — 열어서 읽을 수 있다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outputs 폴더 — 결과물을 저장할 위치를 확인했다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36 / 68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절대 입력하지 않습니다 — 5가지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개인정보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주민번호·연락처·주소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실명 이력서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2978" y="169164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고객정보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고객 명단·상담 기록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구매 이력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7316" y="169164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기업 내부정보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미공개 실적·전략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인사평가·계약서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4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보안자료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비밀번호·API 키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사내 시스템 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374904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타인 저작물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유료 자료 전문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저작권 문서 통째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7316" y="374904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대신 이렇게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구조는 유지, 값만 치환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“고객A”, “매출 X억”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오늘 실습은 전부 가상의 교육용 샘플 데이터로만 진행합니다.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37 / 68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붙여넣기 전, 30초 체크리스트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사람 · 회사 · 고객 · 권한 — 네 가지만 확인합니다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사람 — 실명·연락처 등 개인을 특정할 정보가 있는가 → 가명 처리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회사 — 미공개 실적·전략·계약 정보가 있는가 → 가상 값으로 치환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고객 — 고객을 특정할 수 있는 정보가 있는가 → “고객A”로 치환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권한 — 이 자료를 외부 서비스에 올릴 권한이 나에게 있는가 → 모르면 올리지 않기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38 / 68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무료 계정 사용량, 현실적으로 씁니다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23C7C"/>
                </a:solidFill>
                <a:latin typeface="Apple SD Gothic Neo"/>
              </a:rPr>
              <a:t>무료 플랜은 세션 기반 사용량 제한이 있고, 일정 시간(약 5시간)마다 재설정됩니다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짧게 여러 번보다, 한 번에 완성된 프롬프트로 요청 (오늘 배운 6요소)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중요한 실습 전에는 새 대화로 시작 — 긴 대화는 사용량을 더 씁니다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제한에 도달하면: 결과 예시 파일(expected_output_example.md)로 이어가기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휴식 시간 이후 재시도 — 실습 설계에 이미 반영되어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39 / 68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3172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FB0DC"/>
                </a:solidFill>
                <a:latin typeface="Apple SD Gothic Neo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Apple SD Gothic Neo"/>
              </a:rPr>
              <a:t>실습 — 직접 만들어보는 업무 산출물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690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EAF1FB"/>
                </a:solidFill>
                <a:latin typeface="Apple SD Gothic Neo"/>
              </a:rPr>
              <a:t>15:00 – 17:00 · 휴식 후 시작합니다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EAF1FB"/>
                </a:solidFill>
                <a:latin typeface="Apple SD Gothic Neo"/>
              </a:rPr>
              <a:t>40 / 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① 회의록·자료 정리 자동화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실습 ① · 35분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목적 — 불완전한 회의 메모를 바로 쓸 수 있는 회의록으로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입력 — sample_meeting_note.txt (가상 팝업스토어 기획 회의)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산출물 — 회의 요약 · 결정사항 · 액션아이템 표 · Notion용 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포인트 — 담당자·기한이 없는 항목을 AI가 어떻게 처리하는지 관찰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진행 방법 (3단계)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① 열기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01_free_practice_meeting_summary의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sample_meeting_note.txt 열기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② 복사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prompt_meeting_summary.md의 프롬프트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+ 메모 내용을 함께 복사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③ 전송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Claude 대화창에 붙여넣고 전송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결과가 달라도 괜찮습니다 —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expected_output_example.md 참고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41 / 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① 프롬프트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1-3에서 배운 6요소가 전부 들어 있습니다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목적 — “업무용 회의록으로”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형식 — 5개 섹션 + 액션아이템 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검토 기준 — 추측 금지, '확인 필요' 표시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전송 후: 결과에서 '확인 필요' 표시를 찾아보세요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737360"/>
            <a:ext cx="560801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아래 회의 메모를 업무용 회의록으로 정리해줘.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정리 형식: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1. 회의 목적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2. 핵심 논의사항 3개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3. 결정사항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4. 액션아이템 표 (할 일·담당자·기한·우선순위)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5. 추가 확인이 필요한 질문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톤: 사내 공유용, 간결하고 명확하게.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추측하지 말고 불확실한 내용은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'확인 필요'로 표시해줘.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회의 메모: (샘플 붙여넣기)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42 / 68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① 이어서 요청하기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같은 대화에서 이어서 요청하면 맥락이 유지됩니다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요청 1 — 보고용 3줄 요약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요청 2 — Notion용 Markdown 표 + 체크박스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결과를 Notion 페이지에 붙여넣어 확인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03_notion_markdown_templates의 템플릿과 비교해보기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737360"/>
            <a:ext cx="560801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위 회의록을 팀장님께 보고할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3줄 요약으로 바꿔줘.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---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액션아이템 표를 Notion에 붙여넣기 좋은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Markdown 표로 다시 만들어줘.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체크박스 열을 추가해줘.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43 / 68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① 이런 결과가 나오면 성공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결과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표현이 달라도 이 구조가 나오면 성공입니다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확인 포인트 ① — 담당자·기한 없는 항목에 '확인 필요' 표시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확인 포인트 ② — “성수 임대료 15% 인상”이 전언임을 구분했는가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전체 예시 — expected_output_example.md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결과 예시 발췌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4. 액션아이템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| 할 일 | 담당자 | 기한 |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| 견적 확보 | 확인 필요 | 8/1 이전 |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| 협업 리스트 | 하린 | 7/24(금) |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5. 추가 확인이 필요한 질문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· 예산 ±10%는 재무팀 승인 사항인가?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· 임대료 15% 인상은 정식 견적인가?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(전언 수준 — 확인 필요)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44 / 68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①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237744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77437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 i="0">
                <a:solidFill>
                  <a:srgbClr val="111111"/>
                </a:solidFill>
                <a:latin typeface="Apple SD Gothic Neo"/>
              </a:rPr>
              <a:t>AI는 정보를 대신 읽어주는 도구가 아니라, 업무 판단에 필요한 형태로 정보를 재구성하는 도구입니다.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45 / 68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② 보고서·이메일 초안 작성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실습 ② · 30분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목적 — 막막한 업무 상황을 보고서·이메일로 빠르게 구조화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입력 — sample_work_situation.txt (굿즈 납품 2주 지연 상황)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산출물 — 보고서 초안 · 팀장 보고 이메일 · 업체 회신 메일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포인트 — '초안 → 검토 → 수정 요청' 루프를 직접 경험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시나리오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당신은 팝업스토어 행사 담당자.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· 오픈 6주 전, 굿즈 납품이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2주 지연될 수 있다는 연락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· 대안 3개를 조사해 둔 상태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(항공 배송 / 업체 변경 / 지연 배포)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· 팀장께 보고하고 방향을 결정받아야 함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· 업체에도 회신 메일 필요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실무에서 가장 흔한 '보고+메일' 조합을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한 번에 연습합니다.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46 / 68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② 프롬프트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보고서 형식 6개 섹션 — 실무 보고 구조 그대로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“3년 차 이하 실무자처럼 자연스럽게” — 톤 지정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“과장하지 않기” — AI 특유의 부풀림 방지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이메일 짧은 버전까지 한 번에 — 사용량 절약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737360"/>
            <a:ext cx="560801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아래 업무 상황을 바탕으로 상사에게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공유할 보고서 초안을 작성해줘.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형식: 1.배경 2.현재 상황 3.주요 이슈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4.선택 가능한 대응안 5.추천안 6.다음 액션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작성 기준: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- 3년 차 이하 실무자처럼 자연스럽게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- 과장하지 않기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- 불확실한 부분은 '추가 확인 필요' 표시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- 마지막에 이메일용 짧은 버전도 작성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업무 상황: (샘플 붙여넣기)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47 / 68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② 흐름 — 초안에서 완성까지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03120"/>
            <a:ext cx="1819484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상황 정리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05567" y="251917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67372" y="2103120"/>
            <a:ext cx="1819484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보고서 초안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24300" y="251917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86105" y="2103120"/>
            <a:ext cx="1819484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이메일 변환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43033" y="251917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04838" y="2103120"/>
            <a:ext cx="1819484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톤 수정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61765" y="251917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23570" y="2103120"/>
            <a:ext cx="1819484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사람의 최종 검토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수정 요청 예시 — “결론을 맨 위로 올리고 절반 길이로 줄여줘”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수정 요청 예시 — “업체 회신 메일: 정중하지만 급함이 전달되게, 5문장 이내”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추천안의 근거가 상황과 맞는지, 지어낸 숫자가 없는지 확인하고 마칩니다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48 / 68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② 이런 결과가 나오면 성공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결과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보고서 — 대응안 3개가 비용·리스크와 함께 표로 비교됐는가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추천안 — 근거가 상황 설명과 일치하는가 (지어낸 숫자 없는가)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이메일 — 결론(승인 요청)이 앞에 있고 4~5문장인가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전체 예시 — expected_output_example.md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이메일 버전 예시 발췌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제목: [팝업] 굿즈 납품 2주 지연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   — 대응안 보고 및 승인 요청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굿즈 업체 원단 수급 문제로 납품이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2주 지연될 수 있다는 연락을 받았습니다.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오픈일 확보를 위해 1차 물량 항공 배송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(추가 약 80만원, 견적 확인 중)을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추천드립니다. 정식 견적 수신 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승인 요청드리겠습니다.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49 / 68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②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237744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77437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 i="0">
                <a:solidFill>
                  <a:srgbClr val="111111"/>
                </a:solidFill>
                <a:latin typeface="Apple SD Gothic Neo"/>
              </a:rPr>
              <a:t>AI는 초안을 빠르게 만들고, 사람은 맥락·정확성·관계성을 보정합니다.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50 / 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3172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FB0DC"/>
                </a:solidFill>
                <a:latin typeface="Apple SD Gothic Neo"/>
              </a:rPr>
              <a:t>SESSION 2-3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Apple SD Gothic Neo"/>
              </a:rPr>
              <a:t>유료·확장 기능 시연 — 자동화의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690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EAF1FB"/>
                </a:solidFill>
                <a:latin typeface="Apple SD Gothic Neo"/>
              </a:rPr>
              <a:t>16:10 – 16:35 · 보기만 하면 됩니다, 따라 하지 않으셔도 돼요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EAF1FB"/>
                </a:solidFill>
                <a:latin typeface="Apple SD Gothic Neo"/>
              </a:rPr>
              <a:t>51 / 68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AI 업무 생산성의 발전 6단계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0312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1 Chat AI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94831" y="2519172"/>
            <a:ext cx="339489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4275" y="210312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2 문서 생성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10467" y="2519172"/>
            <a:ext cx="339489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9911" y="210312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3 Skills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26102" y="2519172"/>
            <a:ext cx="339489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5546" y="210312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4 MCP 연동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738" y="2519172"/>
            <a:ext cx="339489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11182" y="210312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5 Office 내장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57374" y="2519172"/>
            <a:ext cx="339489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26818" y="210312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6 Agentic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1–2단계 — 질문·답변과 초안 생성. 오늘 무료 계정으로 경험한 영역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3–4단계 — 반복 업무의 템플릿화(Skills), 외부 도구 연결(MCP)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5–6단계 — Excel·Word·PPT 안으로 들어온 AI, 여러 단계를 스스로 수행하는 AI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방향 — “프롬프트를 잘 쓰는 것”에서 “반복 업무를 시스템화하는 것”으로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52 / 68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시연 1 · Claude for Excel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강사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메시지 — AI가 표를 읽고, 계산하고, 업무적 의미를 정리하는 방식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입력 — 카페·리빙 브랜드 6개월 매출 CSV (가상 데이터)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무료 계정에서도 짧은 CSV 텍스트 요약은 가능합니다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Excel 안에서 직접 수정되는 경험이 유료·연동형의 차이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시연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① 월별·채널별 요약 통계 요청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② 전월 대비 증감률 계산 열 추가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③ “주목할 변화 3가지” 인사이트 요청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④ 다음 주 회의용 후속 액션 정리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포인트 — 표를 '읽는' AI에서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표를 '다루는' AI로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53 / 68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시연 2 · Claude for PowerPoint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강사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메시지 — AI가 자료를 슬라이드 메시지와 발표 흐름으로 바꾸는 방식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입력 — 팝업스토어 기획 브리프 (실습 ②와 같은 세계관)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PPT 작업의 핵심은 예쁜 디자인보다 메시지 구조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설문 요청 'PPT 제작'에 대한 현재 시점의 답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시연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① 브리프 → 5장 발표자료 목차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② 슬라이드별 제목 + 핵심 메시지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③ 발표자 노트 생성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④ “경영진 보고용으로 더 간결하게”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수정 요청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포인트 — 장표 수가 아니라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의사결정 흐름이 먼저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54 / 68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시연 3 · Claude for Word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강사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메시지 — AI가 문서를 대신 쓰는 게 아니라, 논리와 표현을 함께 다듬는 방식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입력 — 일부러 다듬지 않은 결과보고서 초안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구어체 초안 → 격식 있는 보고서로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“근거가 부족한 부분을 질문으로 뽑아줘”가 백미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시연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① 구어체 초안 → 경영진 보고 톤으로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② 구조 재편 (개요·성과·이슈·제언)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③ 확인 필요한 부분 질문 도출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예: “만족도 4.3점의 표본 수는?”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포인트 — 문서의 빈틈을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AI가 먼저 찾아주는 경험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55 / 68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시연 4 · MCP — AI를 업무 도구와 연결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0312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내 파일·문서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7291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8659" y="210312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Notion · Drive · Slack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1293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28679" y="210312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MCP (연결 표준)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2959" y="251917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68699" y="210312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MCP(Model Context Protocol) — AI를 외부 앱·데이터·파일과 연결하는 오픈 표준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지금까지: 자료를 복사해서 AI에 붙여넣기 → 결과를 다시 복사해서 옮기기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MCP 이후: AI가 문서를 직접 불러오고, 결과를 직접 가져다 놓는 흐름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시연 — 커넥터로 문서를 불러와 요약 → 표 정리까지 한 번에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56 / 68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시연 5 · Skills — 반복 업무의 템플릿화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강사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Skills — 업무 방식·문서 스타일·절차를 폴더로 묶어 재사용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매번 프롬프트를 새로 쓰는 대신, 내 노하우를 저장해 두는 것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오늘 만든 실습 프롬프트가 그대로 Skill의 재료가 됩니다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조직 차원에선 팀의 보고서 양식·톤을 통일하는 도구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시연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① '주간보고 작성 규칙' Skill 실행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— 톤·형식·표 구조가 자동 적용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② 같은 요청을 Skill 없이 실행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— 결과 품질 차이 비교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포인트 — 오늘 만든 프롬프트가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내일의 Skill이 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57 / 68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시연 6 · Agentic Workflow — 스스로 일하는 AI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강사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AI가 계획을 세우고, 파일을 열고, 여러 단계를 스스로 수행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Claude Cowork·Claude Code — 로컬 파일 접근, 장시간 작업, 산출물 생성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사례 — 오늘 이 강의 PPT와 실습 키트도 이 방식으로 제작했습니다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전제 — 사람이 목표·기준·검토를 쥐고 있어야 안전합니다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시연 · 사례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① 폴더 안의 문서들을 읽고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요약 보고서 생성 과정 시연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② 이 강의 덱의 제작 과정 공개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— 설계 문서 → 코드 → PPT 자동 생성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포인트 — 6단계는 이미 현실입니다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다만 검토자는 여전히 사람입니다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58 / 68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시연 7 · HWP 자동화의 가능성 (rhwp)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강사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메시지 — 국내 업무 환경의 HWP/HWPX도 자동화 사정권에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rhwp — Rust 기반 오픈소스 HWP/HWPX 뷰어·에디터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공공기관·교육기관 문서 업무에 중요한 확장 가능성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단, 도입 전 호환성·서식 검증이 반드시 필요한 영역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시연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① HWPX 샘플 문서 텍스트 추출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② 추출 텍스트를 Claude로 요약·정리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③ 특정 문구(수신자·날짜) 치환 가능성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④ Markdown / DOCX 변환 흐름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주의 — 실무 적용 전 반드시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사본으로 검증부터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59 / 68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2-3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237744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77437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 i="0">
                <a:solidFill>
                  <a:srgbClr val="111111"/>
                </a:solidFill>
                <a:latin typeface="Apple SD Gothic Neo"/>
              </a:rPr>
              <a:t>무료 AI는 업무 초안을 돕고, 유료·연동형 AI는 파일·앱·반복 업무 흐름까지 확장합니다.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29200"/>
            <a:ext cx="107743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333333"/>
                </a:solidFill>
                <a:latin typeface="Apple SD Gothic Neo"/>
              </a:rPr>
              <a:t>지금 결제할 필요는 없습니다 — 방향을 알고 무료로 시작하는 것이 오늘의 결론입니다.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60 / 68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나의 AI 업무 적용 시나리오 만들기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실습 ⑤ · 15분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오늘의 최종 산출물 — 내 업무에 적용할 시나리오 1개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템플릿 — 03_notion_markdown_templates/personal_ai_work_scenario.md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작은 액션 기준 — 다음 주에 30분 안에 시도 가능한 크기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성공 기준은 측정 가능하게 — “회의록 정리 30분 → 10분”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템플릿 구조 (4단계)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1. 내가 자주 반복하는 업무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업무명 · 소요시간 · 어려운 점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2. AI로 줄일 수 있는 부분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단계별 현재 방식 vs AI 활용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3. AI로 대체하면 안 되는 부분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판단 · 민감정보 · 소통 · 책임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4. 다음 주에 바로 시도할 액션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   액션 · 자료 · 시간 · 성공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61 / 68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줄일 업무 vs 줄이면 안 되는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828800"/>
            <a:ext cx="5410047" cy="54864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ple SD Gothic Neo"/>
              </a:rPr>
              <a:t>AI로 줄일 업무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5410047" cy="356616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78608"/>
            <a:ext cx="5007711" cy="316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회의록·메모 정리, 자료 요약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보고서·이메일 초안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형식 변환, 표 만들기, 번역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아이디어 발산의 첫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828800"/>
            <a:ext cx="541004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줄이면 안 되는 업무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377440"/>
            <a:ext cx="5410047" cy="35661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4175" y="2578608"/>
            <a:ext cx="5007711" cy="316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최종 판단과 의사결정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민감정보 검토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이해관계자와의 커뮤니케이션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책임 있는 결정과 그 근거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시나리오 3번 항목을 채울 때 이 구분을 그대로 사용하세요.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62 / 68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환각 대응 — AI 결과 검증 3원칙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3545738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① 근거를 요청한다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“근거를 함께 제시해줘.”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“모르면 모른다고 말해줘.”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2978" y="1691640"/>
            <a:ext cx="3545738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② 표시를 시킨다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“불확실한 내용은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'확인 필요'로 표시해줘.”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7316" y="1691640"/>
            <a:ext cx="3545738" cy="38862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③ 원문과 대조한다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숫자·날짜·이름·인용은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반드시 원본과 직접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설문 요청 — “AI가 내 의견·결정이 아닌 걸 사실처럼 말하는 걸 고치는 법”에 대한 답입니다.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63 / 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AI 시대에도 대체되기 어려운 역량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문제 정의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무엇이 진짜 문제인지 언어로 정리하는 힘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프롬프트 실력의 뿌리이기도 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0147" y="169164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커뮤니케이션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결과를 상대와 맥락에 맞게 전달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AI가 초안을 줘도 관계는 사람이 만듭니다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협업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동료·도구와 함께 일하는 설계 능력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AI도 이제 협업 대상 중 하나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4023360"/>
            <a:ext cx="5432907" cy="21031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95000" bIns="95000"/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자기주도성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새 도구를 먼저 시험해보는 태도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오늘의 시나리오가 그 첫걸음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64 / 68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내일 아침, 이렇게 시작해 보세요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교육은 오늘 끝나지만, 변화는 내일 아침에 시작됩니다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오늘 만든 Claude 계정 그대로 로그인 (새로 준비할 것 없음)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내 시나리오의 '다음 주 액션'에 30분 확보 — 캘린더에 지금 등록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실습 키트의 프롬프트를 내 업무 버전으로 한 줄만 바꿔 실행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결과와 소요시간을 기록 — '30분 → 10분'을 확인하는 순간이 시작점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65 / 68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오늘 가져갈 3가지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AI는 초안, 판단과 책임은 나 — 검증하는 습관이 곧 경쟁력입니다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프롬프트는 질문이 아니라 업무 정의 — 목적·형식·기준을 함께 줍니다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다음 주 30분, 내 반복 업무 1개에 적용 — 시나리오를 실행에 옮깁니다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시대의 업무 경쟁력과 생산성 향상 · 2026 청년 여성 밸런스 워크숍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66 / 68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3172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FB0DC"/>
                </a:solidFill>
                <a:latin typeface="Apple SD Gothic Neo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Apple SD Gothic Neo"/>
              </a:rPr>
              <a:t>무엇이든 물어보세요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690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EAF1FB"/>
                </a:solidFill>
                <a:latin typeface="Apple SD Gothic Neo"/>
              </a:rPr>
              <a:t>오늘 실습·시연·내 업무 적용, 어떤 질문도 좋습니다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EAF1FB"/>
                </a:solidFill>
                <a:latin typeface="Apple SD Gothic Neo"/>
              </a:rPr>
              <a:t>67 / 68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Apple SD Gothic Neo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546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AF1FB"/>
                </a:solidFill>
                <a:latin typeface="Apple SD Gothic Neo"/>
              </a:rPr>
              <a:t>다음 주, 나의 시나리오 실행을 응원합니다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500" b="0" i="0">
                <a:solidFill>
                  <a:srgbClr val="EAF1FB"/>
                </a:solidFill>
                <a:latin typeface="Apple SD Gothic Neo"/>
              </a:rPr>
              <a:t>차성재 · 무신사 Agentic AI PM · 서울시립대 / 아주대 AI 부문 겸임교수</a:t>
            </a:r>
          </a:p>
          <a:p>
            <a:pPr algn="ctr">
              <a:lnSpc>
                <a:spcPct val="160000"/>
              </a:lnSpc>
            </a:pPr>
            <a:r>
              <a:rPr sz="1500" b="0" i="0">
                <a:solidFill>
                  <a:srgbClr val="EAF1FB"/>
                </a:solidFill>
                <a:latin typeface="Apple SD Gothic Neo"/>
              </a:rPr>
              <a:t>Email  business.sjcha@gmail.com</a:t>
            </a:r>
          </a:p>
          <a:p>
            <a:pPr algn="ctr">
              <a:lnSpc>
                <a:spcPct val="160000"/>
              </a:lnSpc>
            </a:pPr>
            <a:r>
              <a:rPr sz="1500" b="0" i="0">
                <a:solidFill>
                  <a:srgbClr val="EAF1FB"/>
                </a:solidFill>
                <a:latin typeface="Apple SD Gothic Neo"/>
              </a:rPr>
              <a:t>LinkedIn에서 '차성재'를 검색하세요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EAF1FB"/>
                </a:solidFill>
                <a:latin typeface="Apple SD Gothic Neo"/>
              </a:rPr>
              <a:t>68 / 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