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14:00-14:10 / 10분 블록 / 준비와 완성 예시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웹 계정 하나와 ZIP으로 참여 가능함을 안내한다.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웹 로그인과 ZIP 압축 해제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14:00-14:10 / 10분 블록 / 준비와 완성 예시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제품 기획과 운영 경험을 짧게 연결한다.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행정문서 실습의 목적 이해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14:00-14:10 / 10분 블록 / 준비와 완성 예시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결과 파일 이름 확인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14:00-14:10 / 10분 블록 / 준비와 완성 예시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15:20 휴식과 16:40 학습 종료 확인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14:00-14:10 / 10분 블록 / 준비와 완성 예시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GitHub 가입은 필요 없다. 실습 ZIP을 기본으로 안내한다.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핵심 사실 파일 열기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14:00-14:10 / 10분 블록 / 준비와 완성 예시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보고서와 기획서까지의 순서 확인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14:10-14:20 / 10분 블록 / 가상 행정사업과 지표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현황 보고와 승인 요청 구분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14:10-14:20 / 10분 블록 / 가상 행정사업과 지표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상담 720건을 720명으로 바꾸지 않음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14:10-14:20 / 10분 블록 / 가상 행정사업과 지표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비율마다 분모 설명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14:10-14:20 / 10분 블록 / 가상 행정사업과 지표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가정 1개와 확인 필요 1개 선택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14:20-14:30 / 10분 블록 / 요청문과 사용량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누가 무엇을 결정하는 문서인지 설명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14:20-14:30 / 10분 블록 / 요청문과 사용량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고정 호출 수나 무제한을 약속하지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한도 대안 이해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출처(2026-10-12 확인): https://support.claude.com/en/articles/11647753-how-do-usage-and-length-limits-work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14:20-14:30 / 10분 블록 / 요청문과 사용량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대안 경로 선택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14:30-14:40 / 10분 블록 / 보고서 구조와 근거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보고서 파일 준비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14:30-14:40 / 10분 블록 / 보고서 구조와 근거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18명 증가와 10.0%p 증가 구분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14:30-14:40 / 10분 블록 / 보고서 구조와 근거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목차와 근거 매칭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14:40-14:50 / 10분 블록 / 보고서 생성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보고서 초안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14:40-14:50 / 10분 블록 / 보고서 생성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보고서 초안과 수치 표시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14:40-14:50 / 10분 블록 / 보고서 생성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자기 결과와 참고답안 비교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14:50-15:00 / 10분 블록 / 보고서 수치와 요청 검수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출처 포함 검수 기록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14:50-15:00 / 10분 블록 / 보고서 수치와 요청 검수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증가율 계산과 원인 판단 구분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14:50-15:00 / 10분 블록 / 보고서 수치와 요청 검수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수정본과 변경 이유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15:00-15:10 / 10분 블록 / 기획과 회의록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기획서 초안 시작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15:00-15:10 / 10분 블록 / 기획과 회의록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합의, 제안, 미정 구분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15:00-15:10 / 10분 블록 / 기획과 회의록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B는 참여자 실습에 요구하지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선택 이유와 제약 설명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15:10-15:20 / 10분 블록 / 기획서 생성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기획서 초안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15:10-15:20 / 10분 블록 / 기획서 생성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초안과 미승인 항목 표시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15:10-15:20 / 10분 블록 / 기획서 생성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실행 조건 확인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15:20-15:30 / 10분 블록 / 첫 휴식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15:30 재개. 휴식 중 새 필수내용을 설명하지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저장과 휴식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15:30-15:40 / 10분 블록 / 대안과 예산 검토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계획을 확정 표현으로 쓰지 않음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15:30-15:40 / 10분 블록 / 대안과 예산 검토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16:30 시연과 16:40 학습 종료 확인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15:30-15:40 / 10분 블록 / 대안과 예산 검토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예산과 시험의 관계 검수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15:30-15:40 / 10분 블록 / 대안과 예산 검토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대안 선택 이유 완성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15:40-15:50 / 10분 블록 / WBS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WBS 행의 의미 이해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15:40-15:50 / 10분 블록 / WBS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대표 업무의 필드 확인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15:40-15:50 / 10분 블록 / WBS 실습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WBS 검토 메모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15:50-16:00 / 10분 블록 / Gantt와 선행작업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예정 구간 관계 이해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15:50-16:00 / 10분 블록 / Gantt와 선행작업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T10 충돌과 독립 작업 구분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15:50-16:00 / 10분 블록 / Gantt와 선행작업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워크북 업로드나 수식 수정은 필수가 아니다.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일정 검토 메모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16:00-16:10 / 10분 블록 / 오류 문서 검수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전체 오류 문서에서 오류 최소 8개와 근거 대응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16:00-16:10 / 10분 블록 / 오류 문서 검수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검수표와 수정본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16:00-16:10 / 10분 블록 / 오류 문서 검수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수치 오류와 논리 오류 구분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16:10-16:20 / 10분 블록 / 최종본과 안내메일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보고서와 기획서 최종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16:10-16:20 / 10분 블록 / 최종본과 안내메일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승인 확정 안내로 쓰지 않음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16:10-16:20 / 10분 블록 / 최종본과 안내메일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결과와 근거 기록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16:20-16:30 / 10분 블록 / 저장과 재사용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본인 업무 적용 폴더 선택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16:20-16:30 / 10분 블록 / 저장과 재사용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다음 업무에 요청문 적용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16:20-16:30 / 10분 블록 / 저장과 재사용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다음 업무 적용 메모 저장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16:30-16:40 / 10분 블록 / 강사 데스크톱 활용 사례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강사의 현재 계정으로 시연한다. 참여자 설치와 결제는 요구하지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관찰 메모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16:30-16:40 / 10분 블록 / 강사 데스크톱 활용 사례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실제 생성된 강의 파일로 설명하고 민감한 업무 화면은 쓰지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웹 작업과 파일 작업 차이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16:30-16:40 / 10분 블록 / 강사 데스크톱 활용 사례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Claude Code는 구독 요건이 있다. Codex를 유료 전용으로 단정하지 않으며 현재 무료 플랜의 제공도 배포 상태에 따라 확인한다.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설치와 접근 권한의 차이 이해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출처(2026-10-12 확인): https://code.claude.com/docs/en/desktop-quickstart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https://learn.chatgpt.com/docs/app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https://learn.chatgpt.com/docs/pricing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16:30-16:40 / 10분 블록 / 강사 데스크톱 활용 사례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실시간 생성이 느리면 준비된 파일로 바로 설명한다.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공통 지침과 업무 요청 구분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16:40-16:50 / 10분 블록 / 휴식과 선택 Q&amp;A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휴식을 원하는 참여자의 자율 휴식을 보장한다.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자율 휴식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운영 구간: 16:50-17:00 / 10분 블록 / 휴식과 선택 Q&amp;A 마무리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이 블록의 장표가 같은 시간을 공유한다. 장표마다 10분을 추가 배정하지 않는다.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진행: 17:00에 마친다.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완료 확인: 17:00 종료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실패 동선: AI 한도나 접속 장애가 있으면 핵심 사실과 참고답안으로 같은 결과를 완성한다.</a:t>
            </a:r>
          </a:p>
          <a:p>
            <a:r>
              <a:rPr sz="1000" b="0">
                <a:solidFill>
                  <a:srgbClr val="17212B"/>
                </a:solidFill>
                <a:latin typeface="Apple SD Gothic Neo"/>
              </a:rPr>
              <a:t>자료: 교육용 가상 행정사업. 수치·기록은 합성 원자료의 집계 또는 명시한 가정이다.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smilesjcha/how-to-work-better/releases/tag/samcheok-ai-docs-2026101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DCEFF0"/>
                </a:solidFill>
                <a:latin typeface="Apple SD Gothic Neo"/>
              </a:rPr>
              <a:t>삼척새일센터 실무 문서 작성 워크숍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08760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생성형 AI로 완성하는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실무 기획서·보고서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971800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0">
                <a:solidFill>
                  <a:srgbClr val="FFCD8A"/>
                </a:solidFill>
                <a:latin typeface="Apple SD Gothic Neo"/>
              </a:rPr>
              <a:t>무료 웹으로 작성하고 근거로 검수하는 행정업무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8348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FFFFFF"/>
                </a:solidFill>
                <a:latin typeface="Apple SD Gothic Neo"/>
              </a:rPr>
              <a:t>2026. 10. 13. (화) 14:00–17:00 · 총 180분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9612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0">
                <a:solidFill>
                  <a:srgbClr val="DCEFF0"/>
                </a:solidFill>
                <a:latin typeface="Apple SD Gothic Neo"/>
              </a:rPr>
              <a:t>강사 차성재 · 무신사 Core AI Product Manager · 아주대학교 AI대학원 겸임교수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14:00-14:10 / 삼척새일센터 / 생성형 AI 실무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01 / 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강사 소개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14:00-14:10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02 / 54</a:t>
            </a:r>
          </a:p>
        </p:txBody>
      </p:sp>
      <p:pic>
        <p:nvPicPr>
          <p:cNvPr id="6" name="Picture 5" descr="profile_photo.jpg"/>
          <p:cNvPicPr>
            <a:picLocks noChangeAspect="1"/>
          </p:cNvPicPr>
          <p:nvPr/>
        </p:nvPicPr>
        <p:blipFill>
          <a:blip r:embed="rId3"/>
          <a:srcRect l="57000"/>
          <a:stretch>
            <a:fillRect/>
          </a:stretch>
        </p:blipFill>
        <p:spPr>
          <a:xfrm>
            <a:off x="566928" y="1490472"/>
            <a:ext cx="1887045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1490472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차성재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945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무신사 Core AI AI Product Manager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아주대학교 AI대학원 겸임교수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51960"/>
            <a:ext cx="11057839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AI 제품을 기획하고 만들고 운영해온 실무형 AI PM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금융의 표, 의료의 영상, 교육의 언어 데이터를 다뤘습니다. 지금은 이커머스에서 고객과 상품을 연결하는 Agent 제품을 만들고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오늘의 결과물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14:00-14:10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03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1057839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월간 보고서와 실행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94760"/>
            <a:ext cx="1105783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검수 기록, WBS 검토 메모, 안내메일까지 저장합니다.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가상의 충분한 원자료로 실제 업무 흐름을 연습합니다.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180분 운영 시간표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14:00-14:10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04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9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640080"/>
                <a:gridCol w="8726119"/>
              </a:tblGrid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시간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14:00-15:20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80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무료 웹 보고서·기획서 실습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15:20-15:30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첫 휴식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15:30-16:40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70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검수·WBS·일정과 활용 사례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16:40-17:00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휴식과 선택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16:30-16:40에는 강사 데스크톱 활용 사례를 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실습 자료 받기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14:00-14:10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05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007C83"/>
                </a:solidFill>
                <a:latin typeface="Apple SD Gothic Neo"/>
              </a:rPr>
              <a:t>실습 전용 ZIP부터 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11057839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1.  아래 다운로드 링크에서 learner-practice.zip을 받고 압축 해제합니다.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2.  00-start-here.pdf를 읽고 01-facts-to-paste.txt를 엽니다.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3.  ChatGPT 또는 Claude 웹 계정 하나로 시작합니다.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  <a:hlinkClick r:id="rId3"/>
              </a:rPr>
              <a:t>다운로드 링크: GitHub 최종 배포 페이지 (클릭)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첫 80분의 10분별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14:00-14:10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06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9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640080"/>
                <a:gridCol w="8726119"/>
              </a:tblGrid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시간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14:00-14:10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준비와 완성 예시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14:10-14:20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가상 행정사업과 지표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14:20-14:30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요청문과 사용량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14:30-14:40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보고서 구조와 근거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14:40-14:50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보고서 생성 실습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14:50-15:00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보고서 수치와 요청 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15:00-15:10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기획과 회의록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15:10-15:20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기획서 생성 실습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가상 행정사업 사례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14:10-14:20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07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1057839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동해여성성장지원센터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취업역량 지원사업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94760"/>
            <a:ext cx="1105783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9월 운영 결과를 보고하고 10월 개선 시험안을 제안합니다.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기관·사람·기업·집행 내역은 모두 교육용 가상 자료입니다.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원자료의 분량과 연결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14:10-14:20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08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자료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행 수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한 행의 의미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등록 원장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360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월별 등록 1건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상담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한 번의 상담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설문 응답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320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한 번의 응답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집행 전표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한 번의 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기업 연계 / WBS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36 / 24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가상 기업 / 제안 업무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2개월 자료입니다. 등록ID로 연결하며 상담 건수와 인원을 구분합니다.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9월 지표의 분모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14:10-14:20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09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지표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계산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의미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수료율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144 / 180 = 80.0%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등록 대비 수료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취업확인율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54 / 144 = 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수료 대비 취업확인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설문 응답률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160 / 180 = 88.9%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등록 대비 응답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집행률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12,360,000 / 18,000,000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예산 대비 집행 68.7%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취업확인은 장기 고용유지율이 아닙니다.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근거의 종류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14:10-14:20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10 / 54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10728655" cy="45079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확정 집계: 등록, 수료, 취업확인, 집행액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회의 논의: 안내문 중복, 자료보완 요청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확인 필요: 응답시간이 늘어난 원인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가정: 4주 시험, 주당 4시간, 목표 수치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07592"/>
            <a:ext cx="2057400" cy="301752"/>
          </a:xfrm>
          <a:prstGeom prst="rect">
            <a:avLst/>
          </a:prstGeom>
          <a:solidFill>
            <a:srgbClr val="D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22860" bIns="22860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1">
                <a:solidFill>
                  <a:srgbClr val="17212B"/>
                </a:solidFill>
                <a:latin typeface="Apple SD Gothic Neo"/>
              </a:rPr>
              <a:t>가상 원자료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source/01-case-brief.pdf / 03-meeting-minutes.pdf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업무 요청문의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14:20-14:30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11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입력에 담을 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965960"/>
            <a:ext cx="5400903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수신자와 보고 목적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기간과 제공 자료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분량과 문서 구조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미확인 정보의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863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17212B"/>
                </a:solidFill>
                <a:latin typeface="Apple SD Gothic Neo"/>
              </a:rPr>
              <a:t>출력에서 확인할 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23863" y="1965960"/>
            <a:ext cx="5400904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23863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수치와 단위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분모와 출처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담당과 완료 기준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수신자가 결정할 요청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무료 사용량 운영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14:20-14:30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12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007C83"/>
                </a:solidFill>
                <a:latin typeface="Apple SD Gothic Neo"/>
              </a:rPr>
              <a:t>핵심 사실 한 묶음으로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11057839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1.  필요한 자료만 넣습니다. 긴 대화를 계속 붙이지 않습니다.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2.  수정은 바꿀 문단만 요청하고 결과를 바로 저장합니다.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3.  한도가 나타나면 참고답안과 검수표로 결과를 완성합니다.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접속과 한도 문제의 대안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14:20-14:30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13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19"/>
              </a:tblGrid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상황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진행 방법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파일 업로드 불가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핵심 사실 TXT를 복사하여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현재 서비스 한도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결과 저장 후 준비된 다른 계정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두 서비스 모두 제한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참고답안과 검수표로 직접 수정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결과가 너무 길거나 느림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목차 또는 수정할 문단만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다중 계정 생성이나 유료 결제는 실습에 요구하지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0020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FFCD8A"/>
                </a:solidFill>
                <a:latin typeface="Apple SD Gothic Neo"/>
              </a:rPr>
              <a:t>14:30-15:00 / 보고서 30분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월간 운영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현황을 근거와 연결하고 결정 요청을 남깁니다.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14:30-14:40 / 삼척새일센터 / 생성형 AI 실무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14 / 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전월 비교와 현재 상태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14:30-14:40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지표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8월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9월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등록 명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180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180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수료 명 / 수료율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126 / 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144 / 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취업확인 명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45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54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수료 대비 취업확인율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35.7%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상담 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720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720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취업 인원 증가와 AI 도입 효과는 같은 주장으로 묶을 수 없습니다.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보고서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14:30-14:40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 / 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94560"/>
            <a:ext cx="257243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현황과 비교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9363" y="2651760"/>
            <a:ext cx="256032" cy="320040"/>
          </a:xfrm>
          <a:prstGeom prst="rightArrow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5395" y="2194560"/>
            <a:ext cx="257243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확인 필요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7831" y="2651760"/>
            <a:ext cx="256032" cy="320040"/>
          </a:xfrm>
          <a:prstGeom prst="rightArrow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3863" y="2194560"/>
            <a:ext cx="257243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다음 조치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96299" y="2651760"/>
            <a:ext cx="256032" cy="320040"/>
          </a:xfrm>
          <a:prstGeom prst="rightArrow">
            <a:avLst/>
          </a:prstGeom>
          <a:solidFill>
            <a:srgbClr val="007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331" y="2194560"/>
            <a:ext cx="2572435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7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승인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1105783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자료 출처를 연결하고, 원인과 목표는 따로 표시합니다.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실습 1 보고서 요청문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14:40-14:50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17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핵심 사실 TXT와 아래 요청을 한 메시지로 입력합니다.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제공한 사실만으로 센터운영책임에게 제출할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9월 운영 보고서를 작성해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현황, 전월 비교, 확인 필요, 조치, 승인 요청 순서.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수료·취업·설문의 분모와 예산 원 단위를 유지합니다.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원인을 단정하지 말고 목표는 [가정]으로 표시합니다.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본문 900자 이내, 주장 5개와 출처 표를 붙입니다.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02-prompts.txt / 실습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C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5544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보고서 생성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11057839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14:40-14:50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핵심 사실과 실습 1 요청문을 붙여넣습니다.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결과를 report.txt에 저장합니다.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수치 3개와 마지막 승인 요청을 표시합니다.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한도가 있으면 참고답안으로 같은 검수를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14:40-14:50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18 / 54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보고서 결과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14:40-14:50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19 / 54</a:t>
            </a:r>
          </a:p>
        </p:txBody>
      </p:sp>
      <p:pic>
        <p:nvPicPr>
          <p:cNvPr id="6" name="Picture 5" descr="report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76" y="1490472"/>
            <a:ext cx="3234807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1691640"/>
            <a:ext cx="67665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현황 다음에 검토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971800"/>
            <a:ext cx="6766560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등록 180명 / 수료 144명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수료율 80.0%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취업확인 54명 / 수료 대비 37.5%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미확인 원인과 승인 요청 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answers/report-example.pdf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보고서의 필수 검수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14:50-15:00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20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19"/>
              </a:tblGrid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확인 항목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정확한 기준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9월 수료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144명 / 등록 180명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취업확인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54명 / 수료 144명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예산 잔액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5,640,000원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설문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160명 응답 / 등록 180명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원인과 승인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확인 필요 / 승인 결과 없음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집계와 인과관계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14:50-15:00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21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57839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취업확인이 45명에서 54명으로 늘었습니다.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어떤 문장이 자료에 맞을까요?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63240"/>
            <a:ext cx="5400903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9명 증가했다.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원인은 추가 확인이 필요하다.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3063240"/>
            <a:ext cx="5400903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AI 보고서 도입으로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취업이 20% 늘었다.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3776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답: 왼쪽. 집계만으로 원인을 입증할 수 없습니다.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보고서 수정 요청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14:50-15:00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22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수정할 문단과 핵심 근거만 입력합니다.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보고서의 수치와 분모를 확인해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원인이 미확인인 문장은 확인 필요로 바꿉니다.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목표와 실제 성과를 구분합니다.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마지막 문장은 센터운영책임의 검토·승인 요청입니다.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원문, 수정안, 자료 출처를 표로 보여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변경 없는 문단은 다시 쓰지 않습니다.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0020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FFCD8A"/>
                </a:solidFill>
                <a:latin typeface="Apple SD Gothic Neo"/>
              </a:rPr>
              <a:t>15:00-15:20 / 휴식 전 기획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실행 기획서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회의의 논의를 담당과 일정이 있는 제안으로 바꿉니다.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15:00-15:10 / 삼척새일센터 / 생성형 AI 실무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23 / 54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회의록에서 가져올 내용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15:00-15:10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24 / 54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10728655" cy="45079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논의: 안내문 중복과 자료보완 요청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대안 A: 무료 웹과 공통 사실 묶음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대안 B: 로컬 폴더와 데스크톱 작업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제안: 2개 팀, 4주 시험, 합계 주당 4시간 이내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미정: 시험 범위와 업무시간 승인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07592"/>
            <a:ext cx="2057400" cy="301752"/>
          </a:xfrm>
          <a:prstGeom prst="rect">
            <a:avLst/>
          </a:prstGeom>
          <a:solidFill>
            <a:srgbClr val="D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22860" bIns="22860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1">
                <a:solidFill>
                  <a:srgbClr val="17212B"/>
                </a:solidFill>
                <a:latin typeface="Apple SD Gothic Neo"/>
              </a:rPr>
              <a:t>가상 회의록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source/03-meeting-minutes.pdf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기획서의 두 대안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15:00-15:10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25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대안 A / 기본 시험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965960"/>
            <a:ext cx="5400903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무료 웹에 핵심 사실 입력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공통 서식과 검수표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사람이 결과를 저장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설치·결제 없이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863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17212B"/>
                </a:solidFill>
                <a:latin typeface="Apple SD Gothic Neo"/>
              </a:rPr>
              <a:t>대안 B / 후속 관찰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23863" y="1965960"/>
            <a:ext cx="5400904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23863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로컬 폴더와 지침 연결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여러 결과 파일 생성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변경과 버전 검토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계정·권한·환경 확인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실습 2 기획서 요청문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15:10-15:20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26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같은 핵심 사실과 실습 2 요청문을 사용합니다.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4주 문서 개선 시험 기획서를 작성해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목적, 두 대안과 선택 이유, 범위, 담당을 포함합니다.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10/19-11/13 일정과 완료 기준을 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2개 팀 합계 주당 4시간 이내는 [가정]입니다.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추가 유료 결제와 신규 채용은 제외합니다.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KPI는 목표와 측정법으로 표시합니다.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끝에는 시험 범위와 업무시간 승인 요청을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02-prompts.txt / 실습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C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5544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기획서 생성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11057839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15:10-15:20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기획서 초안을 plan.txt에 저장합니다.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담당, 완료 기준, 가정 표시를 확인합니다.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잔액을 새 사업의 승인 예산으로 쓰지 않습니다.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15:20에 결과를 저장하고 쉬겠습니다.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15:10-15:20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27 / 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기획서 결과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15:10-15:20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28 / 54</a:t>
            </a:r>
          </a:p>
        </p:txBody>
      </p:sp>
      <p:pic>
        <p:nvPicPr>
          <p:cNvPr id="6" name="Picture 5" descr="plan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76" y="1490472"/>
            <a:ext cx="3234807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1691640"/>
            <a:ext cx="67665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실행 조건이 보이는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971800"/>
            <a:ext cx="6766560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대안 선택과 범위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담당과 4주 일정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측정 방식과 완료 기준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승인 전 목표와 업무시간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answers/plan-example.pdf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C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5544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10분 휴식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11057839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15:20-15:30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보고서와 기획서 초안을 저장해 주세요.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15:30에 대안·예산 검토부터 이어갑니다.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15:20-15:30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29 / 54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기획서의 가정과 승인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15:30-15:40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30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현재 상태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문서 표현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시험 기간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제안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[가정] 4주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업무시간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배정안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2개 팀 합계 주당 4시간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KPI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미승인 목표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측정법과 기준선 필요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실행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승인 결과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검토와 승인 요청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후반 70분과 마지막 휴식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15:30-15:40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31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9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640080"/>
                <a:gridCol w="8726119"/>
              </a:tblGrid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시간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15:30-15:40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대안과 예산 검토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15:40-15:50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WBS 실습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15:50-16:00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Gantt와 선행작업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16:00-16:10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오류 문서 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16:10-16:20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최종본과 안내메일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16:20-16:30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저장과 재사용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16:30-16:40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강사 데스크톱 활용 사례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998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16:40-17:00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연속 휴식과 선택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예산 검토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15:30-15:40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32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구분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금액 원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판단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9월 승인 예산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18,000,000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사업 현황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집행액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12,360,000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전표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미집행 잔액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5,640,000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재배정 가능 여부 미확인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신규 AI 결제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시험 범위에서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무료 웹 기본 시험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잔액과 신규 승인 예산은 다릅니다.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대안 비교 보완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15:30-15:40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33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그대로 복사하여 붙여넣으세요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기획서의 대안 A와 B를 비교해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준비 부담, 저장, 검수, 사용량 측면으로 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기본 시험에 A를 고른 이유를 설명합니다.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B는 강사 시연에서 관찰할 내용으로 남깁니다.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추가 비용이나 채용을 임의로 만들지 않습니다.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WBS 업무 분해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15:40-15:50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34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1057839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업무마다 담당과 완료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94760"/>
            <a:ext cx="1105783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24개 업무를 착수, 시범, 확대, 마무리로 나눕니다.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일정표를 만들기 전에 선행관계부터 확인합니다.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WBS의 핵심 필드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15:40-15:50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35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필드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예시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확인 질문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업무ID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T08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중복 없이 연결되는가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담당 역할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행정지원팀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누가 책임지는가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선행ID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T07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어떤 작업 뒤에 시작하는가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날짜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10/27-10/27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선행 종료 뒤인가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완료 기준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수료·취업·예산 재계산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무엇으로 완료를 판단하는가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전체 24행은 data/wbs.csv와 admin-workbook.xlsx에 있습니다.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실습 3 WBS 검토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15:40-15:50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36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그대로 복사하여 붙여넣으세요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제공된 원본 WBS 24행을 검토해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업무ID, 담당, 선행ID, 시작일, 종료일, 완료 기준.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원본 날짜를 유지하고 변경안은 별도로 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담당 누락, 모호한 완료 기준, 중복 ID를 찾습니다.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T08 지연의 영향을 의존 경로별로 검토합니다.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확인할 질문과 수정 대안을 표로 남깁니다.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02-prompts.txt / 실습 3 + 03-wbs-to-paste.txt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4주 예정 Gantt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15:50-16:00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37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6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1598599"/>
                <a:gridCol w="1598599"/>
                <a:gridCol w="1598599"/>
                <a:gridCol w="1598599"/>
              </a:tblGrid>
              <a:tr h="64269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업무 묶음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10/19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10/26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11/02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11/09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64269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범위·지표·서식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예정</a:t>
                      </a:r>
                    </a:p>
                  </a:txBody>
                  <a:tcPr>
                    <a:solidFill>
                      <a:srgbClr val="DCEFF0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269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보고서·수치 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예정</a:t>
                      </a:r>
                    </a:p>
                  </a:txBody>
                  <a:tcPr>
                    <a:solidFill>
                      <a:srgbClr val="DCEFF0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269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두 번째 사례 적용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예정</a:t>
                      </a:r>
                    </a:p>
                  </a:txBody>
                  <a:tcPr>
                    <a:solidFill>
                      <a:srgbClr val="DCEFF0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269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측정·서식 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예정</a:t>
                      </a:r>
                    </a:p>
                  </a:txBody>
                  <a:tcPr>
                    <a:solidFill>
                      <a:srgbClr val="DCEFF0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269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결과·예산·지속 검토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예정</a:t>
                      </a:r>
                    </a:p>
                  </a:txBody>
                  <a:tcPr>
                    <a:solidFill>
                      <a:srgbClr val="DCEFF0"/>
                    </a:solidFill>
                  </a:tcPr>
                </a:tc>
              </a:tr>
              <a:tr h="642696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최종 승인·보관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800">
                          <a:latin typeface="Apple SD Gothic Neo"/>
                        </a:defRPr>
                      </a:pPr>
                      <a:r>
                        <a:rPr sz="800" b="0">
                          <a:solidFill>
                            <a:srgbClr val="17212B"/>
                          </a:solidFill>
                          <a:latin typeface="Apple SD Gothic Neo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예정</a:t>
                      </a:r>
                    </a:p>
                  </a:txBody>
                  <a:tcPr>
                    <a:solidFill>
                      <a:srgbClr val="DCEF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교육용 가정 일정. 실제 진행률과 완료 성과를 의미하지 않습니다.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일정 지연 상황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15:50-16:00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38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그대로 복사하여 붙여넣으세요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T08 종료가 10월 30일로 지연됩니다.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T10의 원래 시작은 10월 28일입니다.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선행 종료 다음 날 이후 시작 규칙으로 검토합니다.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직접 충돌과 후속 의존 경로를 구분합니다.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원본 날짜, 영향, 변경 제안, 승인 필요를 표로 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모든 업무를 일괄 같은 기간만큼 늦추지 않습니다.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WBS와 Gantt의 연결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15:50-16:00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39 / 54</a:t>
            </a:r>
          </a:p>
        </p:txBody>
      </p:sp>
      <p:pic>
        <p:nvPicPr>
          <p:cNvPr id="6" name="Picture 5" descr="gantt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340" y="1572768"/>
            <a:ext cx="8277013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7731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WBS 날짜를 바꾸면 예정 구간이 함께 바뀝니다.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무료 웹에서는 날짜와 영향 검토 메모로 완료할 수 있습니다.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실습 4 오류 문서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16:00-16:10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40 / 54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10728655" cy="45079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상담 720명의 참여자에게 서비스를 제공했다.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취업률은 등록자 대비 37.5%이다.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AI 도입으로 취업 성과가 20% 증가했다.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설문에는 수료자 전원이 응답했다.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잔액은 6,540,000원이며 유료 AI에 배정했다.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목표 20% 시간절감은 이미 달성했다.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07592"/>
            <a:ext cx="2057400" cy="30175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22860" bIns="22860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의도적 오류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04-review-to-paste.txt / source/05-review-target.pdf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최종 검수 요청문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16:00-16:10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41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그대로 복사하여 붙여넣으세요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초안을 사실 묶음과 대조해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사실·계산·분모 오류와 미승인 목표를 구분합니다.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원문, 정확한 수치나 상태, 출처, 수정 이유를 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없는 원인과 승인 결과는 확인 필요로 남깁니다.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검수표를 반영한 최종본은 700자 이내로 씁니다.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확인한 숫자 3개와 남은 질문 1개를 덧붙입니다.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02-prompts.txt / 실습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오류와 근거 대응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16:00-16:10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42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6"/>
              </a:tblGrid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주장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검수 결과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근거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720명 상담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720건, 중복 포함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상담 기록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등록 대비 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수료 대비 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등록 원장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769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잔액 6,540,000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5,640,000원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집행 원장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899772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시간절감 이미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승인 전 목표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기획 초안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8076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수치를 고쳐도 원인·승인·성과의 근거가 자동으로 생기지 않습니다.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최종본 완료 기준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16:10-16:20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43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007C83"/>
                </a:solidFill>
                <a:latin typeface="Apple SD Gothic Neo"/>
              </a:rPr>
              <a:t>작성 뒤에 사람이 확인할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11057839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1.  기간, 단위, 분모를 원자료와 대조합니다.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2.  원인, 목표, 승인 상태를 사실과 구분합니다.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3.  담당과 완료 기준을 넣고 검수 기록을 저장합니다.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담당 팀 안내메일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16:10-16:20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44 / 54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10728655" cy="45079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제목: 문서 개선 시험안 검토 요청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담당 팀 여러분, 4주 시험안을 공유합니다.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기간과 업무시간은 승인 전 가정입니다.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담당 역할, 완료 기준, 지표 정의를 확인하고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조정할 사항을 알려주시기 바랍니다.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실제 적용은 범위와 업무시간 승인 후 결정하겠습니다.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07592"/>
            <a:ext cx="2057400" cy="301752"/>
          </a:xfrm>
          <a:prstGeom prst="rect">
            <a:avLst/>
          </a:prstGeom>
          <a:solidFill>
            <a:srgbClr val="D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22860" bIns="22860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1">
                <a:solidFill>
                  <a:srgbClr val="17212B"/>
                </a:solidFill>
                <a:latin typeface="Apple SD Gothic Neo"/>
              </a:rPr>
              <a:t>교육용 초안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C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5544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최종 결과 저장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11057839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16:10-16:20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report.txt / plan.txt / review.txt / email.txt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확인한 숫자 3개와 남은 질문 1개를 기록합니다.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AI 제한이 있으면 참고답안을 검수하여 완성합니다.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16:10-16:20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45 / 54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재사용할 업무 폴더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16:20-16:30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46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입력과 공통 기준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965960"/>
            <a:ext cx="5400903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inputs / 원자료와 버전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context / 지표와 공통 규칙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templates / 요청문과 서식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기준과 최신 원본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863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17212B"/>
                </a:solidFill>
                <a:latin typeface="Apple SD Gothic Neo"/>
              </a:rPr>
              <a:t>결과와 결정 기록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23863" y="1965960"/>
            <a:ext cx="5400904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23863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outputs / 검수한 결과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work / 중간 초안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decisions / 승인과 변경 이유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archive / 이전 버전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다음 업무용 요청문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16:20-16:30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47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007C83"/>
                </a:solidFill>
                <a:latin typeface="Apple SD Gothic Neo"/>
              </a:rPr>
              <a:t>그대로 복사하여 붙여넣으세요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21408"/>
            <a:ext cx="11057839" cy="39319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수신자: [누가 결정하는가]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목적: [어떤 판단이나 행동이 필요한가]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기간과 자료: [원자료와 기준일]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출력: [문서 구조와 분량]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검수: [수치·분모·출처·완료 기준]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미확인: [가정 또는 확인 필요로 표시]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내 업무 적용 메모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16:20-16:30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48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1057839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>
                <a:latin typeface="Apple SD Gothic Neo"/>
              </a:defRPr>
            </a:pPr>
            <a:r>
              <a:rPr sz="2700" b="1">
                <a:solidFill>
                  <a:srgbClr val="17212B"/>
                </a:solidFill>
                <a:latin typeface="Apple SD Gothic Neo"/>
              </a:rPr>
              <a:t>반복 작성 업무 하나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794760"/>
            <a:ext cx="11057839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바꿀 문서, 필요한 원자료, 확인할 숫자를 적습니다.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5C6973"/>
                </a:solidFill>
                <a:latin typeface="Apple SD Gothic Neo"/>
              </a:rPr>
              <a:t>검수 담당과 승인 요청을 정하고 작은 범위부터 시험합니다.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0020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>
                <a:latin typeface="Apple SD Gothic Neo"/>
              </a:defRPr>
            </a:pPr>
            <a:r>
              <a:rPr sz="1700" b="1">
                <a:solidFill>
                  <a:srgbClr val="FFCD8A"/>
                </a:solidFill>
                <a:latin typeface="Apple SD Gothic Neo"/>
              </a:rPr>
              <a:t>16:30-16:40 / 관찰 시연 10분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강사 데스크톱 활용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무료 웹에서 만든 작업을 폴더와 반복 업무로 확장합니다.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16:30-16:40 / 삼척새일센터 / 생성형 AI 실무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49 / 54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보여드릴 파일 작업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16:30-16:40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50 /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90472"/>
          <a:ext cx="1105783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19"/>
              </a:tblGrid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업무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Apple SD Gothic Neo"/>
                        </a:rPr>
                        <a:t>시연할 결과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기획·보고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같은 근거에서 서로 다른 문서 생성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프로젝트 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WBS 날짜 변경과 Gantt 재확인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강의·자료 제작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원본 수정과 PPT·PDF 재생성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하네스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공통 규칙, 맥락, 템플릿, 완료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버전 관리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anchor="ctr" tIns="73152" bIns="73152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>
                          <a:latin typeface="Apple SD Gothic Neo"/>
                        </a:defRPr>
                      </a:pPr>
                      <a:r>
                        <a:rPr sz="2000" b="0">
                          <a:solidFill>
                            <a:srgbClr val="17212B"/>
                          </a:solidFill>
                          <a:latin typeface="Apple SD Gothic Neo"/>
                        </a:rPr>
                        <a:t>ZIP 복사와 GitHub clone의 차이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데스크톱에서 폴더 작업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16:30-16:40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51 /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007C83"/>
                </a:solidFill>
                <a:latin typeface="Apple SD Gothic Neo"/>
              </a:rPr>
              <a:t>Claude Desktop / Claude 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965960"/>
            <a:ext cx="5400903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프로젝트 폴더 선택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CLAUDE.md와 업무 요청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초안과 변경 파일 검토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Code 이용 플랜은 계정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863" y="1490472"/>
            <a:ext cx="540090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1">
                <a:solidFill>
                  <a:srgbClr val="17212B"/>
                </a:solidFill>
                <a:latin typeface="Apple SD Gothic Neo"/>
              </a:rPr>
              <a:t>ChatGPT Desktop / Codex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23863" y="1965960"/>
            <a:ext cx="5400904" cy="0"/>
          </a:xfrm>
          <a:prstGeom prst="line">
            <a:avLst/>
          </a:prstGeom>
          <a:ln w="15240">
            <a:solidFill>
              <a:srgbClr val="C9D1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23863" y="2194560"/>
            <a:ext cx="5400903" cy="3840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프로젝트 폴더 선택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AGENTS.md와 업무 요청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결과 파일과 변경 검토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>
                <a:latin typeface="Apple SD Gothic Neo"/>
              </a:defRPr>
            </a:pPr>
            <a:r>
              <a:rPr sz="800" b="0">
                <a:solidFill>
                  <a:srgbClr val="17212B"/>
                </a:solidFill>
                <a:latin typeface="Apple SD Gothic Neo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플랜·배포·사용량은 계정 확인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>
                <a:latin typeface="Apple SD Gothic Neo"/>
              </a:defRPr>
            </a:pPr>
            <a:r>
              <a:rPr sz="3200" b="1">
                <a:solidFill>
                  <a:srgbClr val="17212B"/>
                </a:solidFill>
                <a:latin typeface="Apple SD Gothic Neo"/>
              </a:rPr>
              <a:t>폴더 시연 요청 예시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52144"/>
            <a:ext cx="841248" cy="0"/>
          </a:xfrm>
          <a:prstGeom prst="line">
            <a:avLst/>
          </a:prstGeom>
          <a:ln w="27940">
            <a:solidFill>
              <a:srgbClr val="007C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16:30-16:40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52 / 54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00784"/>
            <a:ext cx="10728655" cy="4507992"/>
          </a:xfrm>
          <a:prstGeom prst="rect">
            <a:avLst/>
          </a:prstGeom>
          <a:solidFill>
            <a:srgbClr val="FFFFFF"/>
          </a:solidFill>
          <a:ln w="15240">
            <a:solidFill>
              <a:srgbClr val="C9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공통 규칙과 inputs의 가상자료를 읽어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보고서, 기획서, WBS 검토 기록을 outputs에 만듭니다.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원본을 보존하고 가정과 확인 필요를 표시합니다.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완료 기준으로 수치와 일정 연결을 검수합니다.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변경한 파일과 남은 질문을 보고해 주세요.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17212B"/>
                </a:solidFill>
                <a:latin typeface="Apple SD Gothic Neo"/>
              </a:rPr>
              <a:t>외부 발송과 게시 단계는 담당자가 결정합니다.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07592"/>
            <a:ext cx="2057400" cy="301752"/>
          </a:xfrm>
          <a:prstGeom prst="rect">
            <a:avLst/>
          </a:prstGeom>
          <a:solidFill>
            <a:srgbClr val="D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22860" bIns="22860" wrap="square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1">
                <a:solidFill>
                  <a:srgbClr val="17212B"/>
                </a:solidFill>
                <a:latin typeface="Apple SD Gothic Neo"/>
              </a:rPr>
              <a:t>강사 시연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7278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5C6973"/>
                </a:solidFill>
                <a:latin typeface="Apple SD Gothic Neo"/>
              </a:rPr>
              <a:t>materials/09-instructor-demo/demo-prompt.txt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C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554480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휴식과 선택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743200"/>
            <a:ext cx="11057839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16:40-16:50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자유롭게 쉬거나 질문해 주세요.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새로운 필수 실습은 없습니다.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DCEFF0"/>
                </a:solidFill>
                <a:latin typeface="Apple SD Gothic Neo"/>
              </a:rPr>
              <a:t>자료와 본인 결과를 저장해 주세요.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16:40-16:50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53 / 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74519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4000">
                <a:latin typeface="Apple SD Gothic Neo"/>
              </a:defRPr>
            </a:pPr>
            <a:r>
              <a:rPr sz="4000" b="1">
                <a:solidFill>
                  <a:srgbClr val="FFFFFF"/>
                </a:solidFill>
                <a:latin typeface="Apple SD Gothic Neo"/>
              </a:rPr>
              <a:t>질문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15468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FFCD8A"/>
                </a:solidFill>
                <a:latin typeface="Apple SD Gothic Neo"/>
              </a:rPr>
              <a:t>16:50-17:00 / 휴식과 선택 Q&amp;A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Apple SD Gothic Neo"/>
              </a:defRPr>
            </a:pPr>
            <a:r>
              <a:rPr sz="2000" b="0">
                <a:solidFill>
                  <a:srgbClr val="FFCD8A"/>
                </a:solidFill>
                <a:latin typeface="Apple SD Gothic Neo"/>
              </a:rPr>
              <a:t>근거를 확인하고 실행 조건이 있는 문서로 완성합니다.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16:50-17:00 / 삼척새일센터 / 생성형 AI 실무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73952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>
                <a:latin typeface="Apple SD Gothic Neo"/>
              </a:defRPr>
            </a:pPr>
            <a:r>
              <a:rPr sz="1200" b="0">
                <a:solidFill>
                  <a:srgbClr val="DCEFF0"/>
                </a:solidFill>
                <a:latin typeface="Apple SD Gothic Neo"/>
              </a:rPr>
              <a:t>54 / 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